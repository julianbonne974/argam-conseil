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B49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524C5D"/>
                </a:solidFill>
              </a:defRPr>
            </a:pPr>
            <a:r>
              <a:t>Argam Conseils x COGOHR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B4925E"/>
                </a:solidFill>
              </a:defRPr>
            </a:pPr>
            <a:r>
              <a:t>Protégez votre niveau de vie à la retraite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Présenté par Clémence Gavache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5943600"/>
            <a:ext cx="4873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4925E"/>
                </a:solidFill>
              </a:defRPr>
            </a:pPr>
            <a:r>
              <a:t>Partenaire Officiel COGOHR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B49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24C5D"/>
                </a:solidFill>
              </a:defRPr>
            </a:pPr>
            <a:r>
              <a:t>53% de vos revenus ne comptent pas pour la retraite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</a:defRPr>
            </a:pPr>
            <a:r>
              <a:t>2/7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64592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⚠ ALERTE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45720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Prime de vie chère : 53%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2860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DC2626"/>
                </a:solidFill>
              </a:defRPr>
            </a:pPr>
            <a:r>
              <a:t>❌ NON COMPTÉE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91840"/>
            <a:ext cx="402336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Traitement indiciaire : 47%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3566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0B981"/>
                </a:solidFill>
              </a:defRPr>
            </a:pPr>
            <a:r>
              <a:t>✓ COMPTÉE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645920"/>
            <a:ext cx="4114800" cy="2926080"/>
          </a:xfrm>
          <a:prstGeom prst="roundRect">
            <a:avLst/>
          </a:prstGeom>
          <a:solidFill>
            <a:srgbClr val="F5F5F5"/>
          </a:solidFill>
          <a:ln>
            <a:solidFill>
              <a:srgbClr val="B49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82880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524C5D"/>
                </a:solidFill>
              </a:defRPr>
            </a:pPr>
            <a:r>
              <a:t>Exemple concret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3774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Revenu mensuel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3774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33333"/>
                </a:solidFill>
              </a:defRPr>
            </a:pPr>
            <a:r>
              <a:t>3 000 €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8346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Prime vie chère (53%)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834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C2626"/>
                </a:solidFill>
              </a:defRPr>
            </a:pPr>
            <a:r>
              <a:t>1 590 €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918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Traitement indiciaire (47%)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32918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</a:defRPr>
            </a:pPr>
            <a:r>
              <a:t>1 410 €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46320"/>
            <a:ext cx="11274552" cy="1097280"/>
          </a:xfrm>
          <a:prstGeom prst="roundRect">
            <a:avLst/>
          </a:prstGeom>
          <a:solidFill>
            <a:srgbClr val="524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Seul le traitement indiciaire est pris en compte pour calculer votre pension de retraite.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Argam Conseils x COGOHR | Présentation exclusive adhérents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B49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24C5D"/>
                </a:solidFill>
              </a:defRPr>
            </a:pPr>
            <a:r>
              <a:t>À la retraite : jusqu'à 1 600€ de perte mensuelle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</a:defRPr>
            </a:pPr>
            <a:r>
              <a:t>3/7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114800" cy="2286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AUJOURD'HUI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37490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3 000 €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par mois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37744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DC2626"/>
                </a:solidFill>
              </a:defRPr>
            </a:pPr>
            <a:r>
              <a:t>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2004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-53%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645920"/>
            <a:ext cx="4114800" cy="22860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82880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À LA RETRAITE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560320"/>
            <a:ext cx="37490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1 410 €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38328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par mois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4206240"/>
            <a:ext cx="6702552" cy="1188720"/>
          </a:xfrm>
          <a:prstGeom prst="roundRect">
            <a:avLst/>
          </a:prstGeom>
          <a:solidFill>
            <a:srgbClr val="524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4389120"/>
            <a:ext cx="63367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Perte mensuelle : -1 590 €  |  Perte annuelle : -19 080 €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577840"/>
            <a:ext cx="10360152" cy="822960"/>
          </a:xfrm>
          <a:prstGeom prst="roundRect">
            <a:avLst/>
          </a:prstGeom>
          <a:solidFill>
            <a:srgbClr val="B49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715000"/>
            <a:ext cx="99943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FFFFFF"/>
                </a:solidFill>
              </a:defRPr>
            </a:pPr>
            <a:r>
              <a:t>C'est comme perdre un 13ème, 14ème, 15ème... mois de salaire chaque année.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Argam Conseils x COGOHR | Présentation exclusive adhérents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B49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24C5D"/>
                </a:solidFill>
              </a:defRPr>
            </a:pPr>
            <a:r>
              <a:t>Le Plan Épargne Retraite : compensez jusqu'à 30% de vos revenus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</a:defRPr>
            </a:pPr>
            <a:r>
              <a:t>4/7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2743200"/>
          </a:xfrm>
          <a:prstGeom prst="roundRect">
            <a:avLst/>
          </a:prstGeom>
          <a:solidFill>
            <a:srgbClr val="F5F5F5"/>
          </a:solidFill>
          <a:ln>
            <a:solidFill>
              <a:srgbClr val="B49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24C5D"/>
                </a:solidFill>
              </a:defRPr>
            </a:pPr>
            <a:r>
              <a:t>Complément de revenus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Reconstituez jusqu'à 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de vos revenus actuels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Limitez la perte à 20%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371600"/>
            <a:ext cx="3474720" cy="2743200"/>
          </a:xfrm>
          <a:prstGeom prst="roundRect">
            <a:avLst/>
          </a:prstGeom>
          <a:solidFill>
            <a:srgbClr val="F5F5F5"/>
          </a:solidFill>
          <a:ln>
            <a:solidFill>
              <a:srgbClr val="B49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21945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24C5D"/>
                </a:solidFill>
              </a:defRPr>
            </a:pPr>
            <a:r>
              <a:t>Avantages fiscaux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743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Versements déductibles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0632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de vos impôts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3832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Économie immédiate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371600"/>
            <a:ext cx="3474720" cy="2743200"/>
          </a:xfrm>
          <a:prstGeom prst="roundRect">
            <a:avLst/>
          </a:prstGeom>
          <a:solidFill>
            <a:srgbClr val="F5F5F5"/>
          </a:solidFill>
          <a:ln>
            <a:solidFill>
              <a:srgbClr val="B49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146304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1945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24C5D"/>
                </a:solidFill>
              </a:defRPr>
            </a:pPr>
            <a:r>
              <a:t>Flexibilité totale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2743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Versements libres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30632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ou programmés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33832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Capital, rente ou les deux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891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24C5D"/>
                </a:solidFill>
              </a:defRPr>
            </a:pPr>
            <a:r>
              <a:t>Votre situation à la retraite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377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Sans PER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846320"/>
            <a:ext cx="201168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4937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-53%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486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Avec PER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5394960"/>
            <a:ext cx="34747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54864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-20%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4937760"/>
            <a:ext cx="3657600" cy="914400"/>
          </a:xfrm>
          <a:prstGeom prst="roundRect">
            <a:avLst/>
          </a:prstGeom>
          <a:solidFill>
            <a:srgbClr val="B49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512064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Gain : +33% de revenus conservés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8368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Argam Conseils x COGOHR | Présentation exclusive adhérents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B49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24C5D"/>
                </a:solidFill>
              </a:defRPr>
            </a:pPr>
            <a:r>
              <a:t>Adhérents COGOHR : des avantages exclusifs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</a:defRPr>
            </a:pPr>
            <a:r>
              <a:t>5/7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097280"/>
            <a:ext cx="3959352" cy="548640"/>
          </a:xfrm>
          <a:prstGeom prst="roundRect">
            <a:avLst/>
          </a:prstGeom>
          <a:solidFill>
            <a:srgbClr val="B49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1188720"/>
            <a:ext cx="3593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🤝 PARTENAIRE OFFICIEL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9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474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/>
            </a:pPr>
            <a:r>
              <a:t>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B4925E"/>
                </a:solidFill>
              </a:defRPr>
            </a:pPr>
            <a:r>
              <a:t>GRATUIT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524C5D"/>
                </a:solidFill>
              </a:defRPr>
            </a:pPr>
            <a:r>
              <a:t>Étude personnalisée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✓ Analyse complète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5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✓ de votre situation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199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✓ Simulation personnalisée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✓ Sans aucun engagement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82880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9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94959" y="2011680"/>
            <a:ext cx="1097280" cy="8229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59" y="214884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9260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0% FRAIS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33832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524C5D"/>
                </a:solidFill>
              </a:defRPr>
            </a:pPr>
            <a:r>
              <a:t>Frais d'entrée offerts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3192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✓ Économie jusqu'à 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25195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✓ du capital investi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57199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✓ Plusieurs milliers d'€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8920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✓ Exclusif COGOHR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182880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9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2011680"/>
            <a:ext cx="3474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/>
            </a:pPr>
            <a:r>
              <a:t>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9260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B4925E"/>
                </a:solidFill>
              </a:defRPr>
            </a:pPr>
            <a:r>
              <a:t>EXPERT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33832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524C5D"/>
                </a:solidFill>
              </a:defRPr>
            </a:pPr>
            <a:r>
              <a:t>Accompagnement dédié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393192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✓ Spécialistes fonction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425195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✓ publique hospitalière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457199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✓ Suivi personnalisé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9" y="48920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✓ Présence La Réunion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0" y="6126480"/>
            <a:ext cx="8531352" cy="457200"/>
          </a:xfrm>
          <a:prstGeom prst="roundRect">
            <a:avLst/>
          </a:prstGeom>
          <a:solidFill>
            <a:srgbClr val="524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0" y="6217920"/>
            <a:ext cx="8165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Ces avantages sont réservés exclusivement aux adhérents COGOHR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8368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Argam Conseils x COGOHR | Présentation exclusive adhérents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B49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24C5D"/>
                </a:solidFill>
              </a:defRPr>
            </a:pPr>
            <a:r>
              <a:t>3 étapes simples pour sécuriser votre retraite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</a:defRPr>
            </a:pPr>
            <a:r>
              <a:t>6/7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560320"/>
            <a:ext cx="8229600" cy="45720"/>
          </a:xfrm>
          <a:prstGeom prst="rect">
            <a:avLst/>
          </a:prstGeom>
          <a:solidFill>
            <a:srgbClr val="B49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1680" y="2194560"/>
            <a:ext cx="822960" cy="822960"/>
          </a:xfrm>
          <a:prstGeom prst="ellipse">
            <a:avLst/>
          </a:prstGeom>
          <a:solidFill>
            <a:srgbClr val="B49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33172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3566160" cy="2926080"/>
          </a:xfrm>
          <a:prstGeom prst="roundRect">
            <a:avLst/>
          </a:prstGeom>
          <a:solidFill>
            <a:srgbClr val="F5F5F5"/>
          </a:solidFill>
          <a:ln>
            <a:solidFill>
              <a:srgbClr val="B49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24C5D"/>
                </a:solidFill>
              </a:defRPr>
            </a:pPr>
            <a:r>
              <a:t>DIAGNOSTIC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4805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Analyse de votre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846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situation actuelle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2120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Simulation retraite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5778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Capacité d'épargne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0" y="2194560"/>
            <a:ext cx="822960" cy="822960"/>
          </a:xfrm>
          <a:prstGeom prst="ellipse">
            <a:avLst/>
          </a:prstGeom>
          <a:solidFill>
            <a:srgbClr val="B49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233172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200400"/>
            <a:ext cx="3566160" cy="2926080"/>
          </a:xfrm>
          <a:prstGeom prst="roundRect">
            <a:avLst/>
          </a:prstGeom>
          <a:solidFill>
            <a:srgbClr val="F5F5F5"/>
          </a:solidFill>
          <a:ln>
            <a:solidFill>
              <a:srgbClr val="B49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329184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93192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24C5D"/>
                </a:solidFill>
              </a:defRPr>
            </a:pPr>
            <a:r>
              <a:t>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4805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Plan d'épargne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846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sur-mesure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2120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Optimisation fiscale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5778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Supports adaptés</a:t>
            </a:r>
          </a:p>
        </p:txBody>
      </p:sp>
      <p:sp>
        <p:nvSpPr>
          <p:cNvPr id="24" name="Oval 23"/>
          <p:cNvSpPr/>
          <p:nvPr/>
        </p:nvSpPr>
        <p:spPr>
          <a:xfrm>
            <a:off x="9326880" y="2194560"/>
            <a:ext cx="822960" cy="822960"/>
          </a:xfrm>
          <a:prstGeom prst="ellipse">
            <a:avLst/>
          </a:prstGeom>
          <a:solidFill>
            <a:srgbClr val="B49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33172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3200400"/>
            <a:ext cx="3566160" cy="2926080"/>
          </a:xfrm>
          <a:prstGeom prst="roundRect">
            <a:avLst/>
          </a:prstGeom>
          <a:solidFill>
            <a:srgbClr val="F5F5F5"/>
          </a:solidFill>
          <a:ln>
            <a:solidFill>
              <a:srgbClr val="B49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329184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393192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24C5D"/>
                </a:solidFill>
              </a:defRPr>
            </a:pPr>
            <a:r>
              <a:t>SUIVI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44805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Points réguliers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4846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Ajustements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9" y="52120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Reporting annuel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9" y="55778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• Accompagnement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8368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Argam Conseils x COGOHR | Présentation exclusive adhérents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24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B49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Agissez maintenant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B4925E"/>
                </a:solidFill>
              </a:defRPr>
            </a:pPr>
            <a:r>
              <a:t>C'est gratuit et sans engagement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560320"/>
            <a:ext cx="6702552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2743200"/>
            <a:ext cx="6336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524C5D"/>
                </a:solidFill>
              </a:defRPr>
            </a:pPr>
            <a:r>
              <a:t>📞 05 33 89 14 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383280"/>
            <a:ext cx="63367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24C5D"/>
                </a:solidFill>
              </a:defRPr>
            </a:pPr>
            <a:r>
              <a:t>✉️ contact@argamconseils.com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114800"/>
            <a:ext cx="63367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925E"/>
                </a:solidFill>
              </a:defRPr>
            </a:pPr>
            <a:r>
              <a:t>⏱️ Réponse garantie sous 48h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5029200"/>
            <a:ext cx="7616952" cy="822960"/>
          </a:xfrm>
          <a:prstGeom prst="roundRect">
            <a:avLst/>
          </a:prstGeom>
          <a:solidFill>
            <a:srgbClr val="B49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5212080"/>
            <a:ext cx="72511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Demandez votre étude personnalisée gratuite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Argam Conseils x COGOHR | Partenaire Officiel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